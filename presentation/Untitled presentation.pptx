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Mon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Mon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RobotoMono-italic.fntdata"/><Relationship Id="rId6" Type="http://schemas.openxmlformats.org/officeDocument/2006/relationships/slide" Target="slides/slide1.xml"/><Relationship Id="rId18" Type="http://schemas.openxmlformats.org/officeDocument/2006/relationships/font" Target="fonts/RobotoMon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4ff6a298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4ff6a298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4ff6a2982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4ff6a2982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4ff6a2982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4ff6a2982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4ff6a2982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4ff6a2982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84ff6a298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84ff6a298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84ff6a2982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84ff6a2982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4ff6a298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4ff6a298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4ff6a2982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4ff6a2982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84ff6a298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84ff6a298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84ff6a298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84ff6a298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3000">
        <p14:gallery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817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Food Waste Analysis: Patterns, Causes, and Solutions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260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AE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AE4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12AE42"/>
              </a:solidFill>
            </a:endParaRPr>
          </a:p>
          <a:p>
            <a:pPr indent="45720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12AE42"/>
                </a:solidFill>
              </a:rPr>
              <a:t>Today, I’ll be presenting my data science project on food waste. We’ll explore how much food is wasted, the reasons behind it, and potential strategies to reduce it.</a:t>
            </a:r>
            <a:endParaRPr sz="1900">
              <a:solidFill>
                <a:srgbClr val="12AE4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187275"/>
            <a:ext cx="8520600" cy="16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rgbClr val="AE4212"/>
                </a:solidFill>
              </a:rPr>
              <a:t>Datasets Taken From </a:t>
            </a:r>
            <a:r>
              <a:rPr i="1" lang="en" sz="3700" u="sng">
                <a:solidFill>
                  <a:srgbClr val="AE4212"/>
                </a:solidFill>
              </a:rPr>
              <a:t>Kaggle.com</a:t>
            </a:r>
            <a:r>
              <a:rPr lang="en" sz="3700">
                <a:solidFill>
                  <a:srgbClr val="AE4212"/>
                </a:solidFill>
              </a:rPr>
              <a:t> and </a:t>
            </a:r>
            <a:r>
              <a:rPr i="1" lang="en" sz="3700" u="sng">
                <a:solidFill>
                  <a:srgbClr val="AE4212"/>
                </a:solidFill>
              </a:rPr>
              <a:t>DataCamp.com</a:t>
            </a:r>
            <a:endParaRPr i="1" sz="3700" u="sng">
              <a:solidFill>
                <a:srgbClr val="AE4212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700350"/>
            <a:ext cx="8520600" cy="326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010101"/>
                </a:solidFill>
              </a:rPr>
              <a:t>Food waste is a critical global issue, impacting both the economy and the environment. In this project, we aim to answer three key questions:</a:t>
            </a:r>
            <a:endParaRPr>
              <a:solidFill>
                <a:srgbClr val="01010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10101"/>
              </a:buClr>
              <a:buSzPts val="1800"/>
              <a:buChar char="●"/>
            </a:pPr>
            <a:r>
              <a:rPr lang="en">
                <a:solidFill>
                  <a:srgbClr val="010101"/>
                </a:solidFill>
              </a:rPr>
              <a:t>How much food is being wasted?</a:t>
            </a:r>
            <a:endParaRPr>
              <a:solidFill>
                <a:srgbClr val="01010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Char char="●"/>
            </a:pPr>
            <a:r>
              <a:rPr lang="en">
                <a:solidFill>
                  <a:srgbClr val="010101"/>
                </a:solidFill>
              </a:rPr>
              <a:t>Why is food being wasted?</a:t>
            </a:r>
            <a:endParaRPr>
              <a:solidFill>
                <a:srgbClr val="01010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10101"/>
              </a:buClr>
              <a:buSzPts val="1800"/>
              <a:buChar char="●"/>
            </a:pPr>
            <a:r>
              <a:rPr lang="en">
                <a:solidFill>
                  <a:srgbClr val="010101"/>
                </a:solidFill>
              </a:rPr>
              <a:t>How can we minimize food waste?</a:t>
            </a:r>
            <a:br>
              <a:rPr lang="en">
                <a:solidFill>
                  <a:srgbClr val="010101"/>
                </a:solidFill>
              </a:rPr>
            </a:br>
            <a:r>
              <a:rPr lang="en">
                <a:solidFill>
                  <a:srgbClr val="010101"/>
                </a:solidFill>
              </a:rPr>
              <a:t>                                                      </a:t>
            </a:r>
            <a:br>
              <a:rPr lang="en">
                <a:solidFill>
                  <a:srgbClr val="010101"/>
                </a:solidFill>
              </a:rPr>
            </a:br>
            <a:endParaRPr>
              <a:solidFill>
                <a:srgbClr val="01010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01010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239775"/>
            <a:ext cx="8520600" cy="418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1242AE"/>
                </a:solidFill>
              </a:rPr>
              <a:t>The dataset I used includes information on food waste by: </a:t>
            </a:r>
            <a:endParaRPr sz="2400">
              <a:solidFill>
                <a:srgbClr val="1242AE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E421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Char char="●"/>
            </a:pPr>
            <a:r>
              <a:rPr lang="en" sz="1800">
                <a:solidFill>
                  <a:srgbClr val="AE4212"/>
                </a:solidFill>
              </a:rPr>
              <a:t>C</a:t>
            </a:r>
            <a:r>
              <a:rPr lang="en" sz="1800">
                <a:solidFill>
                  <a:srgbClr val="AE4212"/>
                </a:solidFill>
              </a:rPr>
              <a:t>ountry </a:t>
            </a:r>
            <a:endParaRPr sz="1800">
              <a:solidFill>
                <a:srgbClr val="AE421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Char char="●"/>
            </a:pPr>
            <a:r>
              <a:rPr lang="en" sz="1800">
                <a:solidFill>
                  <a:srgbClr val="AE4212"/>
                </a:solidFill>
              </a:rPr>
              <a:t>Region</a:t>
            </a:r>
            <a:endParaRPr sz="1800">
              <a:solidFill>
                <a:srgbClr val="AE421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Char char="●"/>
            </a:pPr>
            <a:r>
              <a:rPr lang="en" sz="1800">
                <a:solidFill>
                  <a:srgbClr val="AE4212"/>
                </a:solidFill>
              </a:rPr>
              <a:t>Food category</a:t>
            </a:r>
            <a:endParaRPr sz="1800">
              <a:solidFill>
                <a:srgbClr val="AE421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Char char="●"/>
            </a:pPr>
            <a:r>
              <a:rPr lang="en" sz="1800">
                <a:solidFill>
                  <a:srgbClr val="AE4212"/>
                </a:solidFill>
              </a:rPr>
              <a:t>Supply stage</a:t>
            </a:r>
            <a:endParaRPr sz="1800">
              <a:solidFill>
                <a:srgbClr val="AE421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Char char="●"/>
            </a:pPr>
            <a:r>
              <a:rPr lang="en" sz="1800">
                <a:solidFill>
                  <a:srgbClr val="AE4212"/>
                </a:solidFill>
                <a:latin typeface="Roboto Mono"/>
                <a:ea typeface="Roboto Mono"/>
                <a:cs typeface="Roboto Mono"/>
                <a:sym typeface="Roboto Mono"/>
              </a:rPr>
              <a:t>Population</a:t>
            </a:r>
            <a:endParaRPr sz="1800">
              <a:solidFill>
                <a:srgbClr val="AE421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AE4212"/>
                </a:solidFill>
                <a:latin typeface="Roboto Mono"/>
                <a:ea typeface="Roboto Mono"/>
                <a:cs typeface="Roboto Mono"/>
                <a:sym typeface="Roboto Mono"/>
              </a:rPr>
              <a:t>Economic Loss</a:t>
            </a:r>
            <a:endParaRPr sz="1800">
              <a:solidFill>
                <a:srgbClr val="AE421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AE4212"/>
                </a:solidFill>
                <a:latin typeface="Roboto Mono"/>
                <a:ea typeface="Roboto Mono"/>
                <a:cs typeface="Roboto Mono"/>
                <a:sym typeface="Roboto Mono"/>
              </a:rPr>
              <a:t>Household Waste</a:t>
            </a:r>
            <a:endParaRPr sz="1800">
              <a:solidFill>
                <a:srgbClr val="AE421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AE4212"/>
              </a:buClr>
              <a:buSzPts val="1800"/>
              <a:buFont typeface="Roboto Mono"/>
              <a:buChar char="●"/>
            </a:pPr>
            <a:r>
              <a:rPr lang="en" sz="1800">
                <a:solidFill>
                  <a:srgbClr val="AE4212"/>
                </a:solidFill>
                <a:latin typeface="Roboto Mono"/>
                <a:ea typeface="Roboto Mono"/>
                <a:cs typeface="Roboto Mono"/>
                <a:sym typeface="Roboto Mono"/>
              </a:rPr>
              <a:t>Total Waste in Tons = TARGET (</a:t>
            </a:r>
            <a:r>
              <a:rPr lang="en" sz="1800" u="sng">
                <a:solidFill>
                  <a:srgbClr val="AE4212"/>
                </a:solidFill>
                <a:highlight>
                  <a:srgbClr val="FFFFFF"/>
                </a:highlight>
              </a:rPr>
              <a:t>The response variable</a:t>
            </a:r>
            <a:r>
              <a:rPr lang="en" sz="1800">
                <a:solidFill>
                  <a:srgbClr val="AE4212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1800">
              <a:solidFill>
                <a:srgbClr val="AE421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AE42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/>
              <a:t> 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10101"/>
                </a:solidFill>
              </a:rPr>
              <a:t>I first performed cleaning to remove unnecessary columns and standardize missing values.</a:t>
            </a:r>
            <a:endParaRPr b="1" sz="1200">
              <a:solidFill>
                <a:srgbClr val="010101"/>
              </a:solidFill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 flipH="1" rot="10800000">
            <a:off x="311700" y="4568775"/>
            <a:ext cx="8520600" cy="2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621525"/>
            <a:ext cx="8520600" cy="4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010101"/>
                </a:solidFill>
              </a:rPr>
              <a:t>"During cleaning, I removed irrelevant columns such as </a:t>
            </a:r>
            <a:r>
              <a:rPr lang="en" sz="700">
                <a:solidFill>
                  <a:srgbClr val="010101"/>
                </a:solidFill>
                <a:latin typeface="Roboto Mono"/>
                <a:ea typeface="Roboto Mono"/>
                <a:cs typeface="Roboto Mono"/>
                <a:sym typeface="Roboto Mono"/>
              </a:rPr>
              <a:t>Source</a:t>
            </a:r>
            <a:r>
              <a:rPr lang="en" sz="700">
                <a:solidFill>
                  <a:srgbClr val="010101"/>
                </a:solidFill>
              </a:rPr>
              <a:t> and </a:t>
            </a:r>
            <a:r>
              <a:rPr lang="en" sz="700">
                <a:solidFill>
                  <a:srgbClr val="010101"/>
                </a:solidFill>
                <a:latin typeface="Roboto Mono"/>
                <a:ea typeface="Roboto Mono"/>
                <a:cs typeface="Roboto Mono"/>
                <a:sym typeface="Roboto Mono"/>
              </a:rPr>
              <a:t>Estimate Confidence</a:t>
            </a:r>
            <a:r>
              <a:rPr lang="en" sz="700">
                <a:solidFill>
                  <a:srgbClr val="010101"/>
                </a:solidFill>
              </a:rPr>
              <a:t>. I also handled missing data and standardized units. This allowed me  to focus on key features for analysis, ensuring reliable insights."</a:t>
            </a:r>
            <a:endParaRPr sz="700">
              <a:solidFill>
                <a:srgbClr val="010101"/>
              </a:solidFill>
            </a:endParaRPr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25775" y="96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 title="before_vs_after_cleaning_simulated_cle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6925"/>
            <a:ext cx="9144003" cy="43837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0101"/>
                </a:solidFill>
              </a:rPr>
              <a:t>This helps identify where interventions could have the greatest impact.</a:t>
            </a:r>
            <a:endParaRPr sz="1500">
              <a:solidFill>
                <a:srgbClr val="010101"/>
              </a:solidFill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 title="top10_food_wast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86688"/>
            <a:ext cx="9144003" cy="452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52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0101"/>
                </a:solidFill>
              </a:rPr>
              <a:t>This insight is crucial for targeting specific supply chains and households for waste reduction programs.</a:t>
            </a:r>
            <a:endParaRPr sz="1500">
              <a:solidFill>
                <a:srgbClr val="010101"/>
              </a:solidFill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 title="top10_food_categori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779825"/>
            <a:ext cx="9144003" cy="43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768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10101"/>
                </a:solidFill>
              </a:rPr>
              <a:t>Trends Over Time</a:t>
            </a:r>
            <a:endParaRPr sz="1800">
              <a:solidFill>
                <a:srgbClr val="010101"/>
              </a:solidFill>
            </a:endParaRPr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5" name="Google Shape;95;p19" title="food_waste_over_year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5787"/>
            <a:ext cx="9144003" cy="45228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0101"/>
                </a:solidFill>
              </a:rPr>
              <a:t>Food waste occurs at different stages of the supply chain.</a:t>
            </a:r>
            <a:endParaRPr sz="1500">
              <a:solidFill>
                <a:srgbClr val="010101"/>
              </a:solidFill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20" title="food_waste_by_supply_st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36150"/>
            <a:ext cx="9144003" cy="470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010101"/>
                </a:solidFill>
              </a:rPr>
              <a:t>comparing model performance</a:t>
            </a:r>
            <a:endParaRPr sz="1500">
              <a:solidFill>
                <a:srgbClr val="010101"/>
              </a:solidFill>
            </a:endParaRPr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 title="model_comparis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850" y="1098950"/>
            <a:ext cx="8838702" cy="404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…</a:t>
            </a:r>
            <a:endParaRPr sz="1200"/>
          </a:p>
        </p:txBody>
      </p:sp>
      <p:sp>
        <p:nvSpPr>
          <p:cNvPr id="115" name="Google Shape;115;p22"/>
          <p:cNvSpPr txBox="1"/>
          <p:nvPr>
            <p:ph idx="1" type="body"/>
          </p:nvPr>
        </p:nvSpPr>
        <p:spPr>
          <a:xfrm>
            <a:off x="0" y="629150"/>
            <a:ext cx="8972400" cy="494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u="sng">
                <a:solidFill>
                  <a:srgbClr val="1242AE"/>
                </a:solidFill>
              </a:rPr>
              <a:t>Model Comparison &amp; Final Choice</a:t>
            </a:r>
            <a:endParaRPr b="1" u="sng">
              <a:solidFill>
                <a:srgbClr val="1242AE"/>
              </a:solidFill>
            </a:endParaRPr>
          </a:p>
          <a:p>
            <a:pPr indent="0" lvl="0" marL="457200" marR="3810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29342"/>
              </a:solidFill>
            </a:endParaRPr>
          </a:p>
          <a:p>
            <a:pPr indent="-342900" lvl="0" marL="457200" marR="381000" rtl="0" algn="l">
              <a:spcBef>
                <a:spcPts val="120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lang="en">
                <a:solidFill>
                  <a:srgbClr val="129342"/>
                </a:solidFill>
              </a:rPr>
              <a:t>For the modeling stage, I tested several algorithms.</a:t>
            </a:r>
            <a:endParaRPr>
              <a:solidFill>
                <a:srgbClr val="129342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lang="en">
                <a:solidFill>
                  <a:srgbClr val="129342"/>
                </a:solidFill>
              </a:rPr>
              <a:t>Random Forest performed best overall. Achieved highest accuracy and lowest error.</a:t>
            </a:r>
            <a:endParaRPr>
              <a:solidFill>
                <a:srgbClr val="129342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lang="en">
                <a:solidFill>
                  <a:srgbClr val="129342"/>
                </a:solidFill>
              </a:rPr>
              <a:t>It combines multiple decision trees to capture complex relationships between variables.</a:t>
            </a:r>
            <a:endParaRPr>
              <a:solidFill>
                <a:srgbClr val="129342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lang="en">
                <a:solidFill>
                  <a:srgbClr val="129342"/>
                </a:solidFill>
              </a:rPr>
              <a:t>Robust against missing or noisy data. Provides useful insights like feature importance — showing which factors most influence food waste.</a:t>
            </a:r>
            <a:endParaRPr>
              <a:solidFill>
                <a:srgbClr val="129342"/>
              </a:solidFill>
            </a:endParaRPr>
          </a:p>
          <a:p>
            <a:pPr indent="-342900" lvl="0" marL="457200" marR="381000" rtl="0" algn="l">
              <a:spcBef>
                <a:spcPts val="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lang="en">
                <a:solidFill>
                  <a:srgbClr val="129342"/>
                </a:solidFill>
              </a:rPr>
              <a:t>Random Forest was chosen as the final model for this project.</a:t>
            </a:r>
            <a:endParaRPr>
              <a:solidFill>
                <a:srgbClr val="12934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2934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/>
          <p:nvPr>
            <p:ph type="title"/>
          </p:nvPr>
        </p:nvSpPr>
        <p:spPr>
          <a:xfrm>
            <a:off x="311700" y="125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 u="sng">
                <a:solidFill>
                  <a:srgbClr val="FD4212"/>
                </a:solidFill>
              </a:rPr>
              <a:t>Conclusions &amp; Recommendations</a:t>
            </a:r>
            <a:endParaRPr b="1" sz="1800" u="sng">
              <a:solidFill>
                <a:srgbClr val="FD4212"/>
              </a:solidFill>
            </a:endParaRPr>
          </a:p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11700" y="1246225"/>
            <a:ext cx="8520600" cy="3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b="1" lang="en">
                <a:solidFill>
                  <a:srgbClr val="129342"/>
                </a:solidFill>
              </a:rPr>
              <a:t>High-risk countries and food categories</a:t>
            </a:r>
            <a:r>
              <a:rPr lang="en">
                <a:solidFill>
                  <a:srgbClr val="129342"/>
                </a:solidFill>
              </a:rPr>
              <a:t> are identified.</a:t>
            </a:r>
            <a:br>
              <a:rPr lang="en">
                <a:solidFill>
                  <a:srgbClr val="129342"/>
                </a:solidFill>
              </a:rPr>
            </a:br>
            <a:endParaRPr>
              <a:solidFill>
                <a:srgbClr val="12934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b="1" lang="en">
                <a:solidFill>
                  <a:srgbClr val="129342"/>
                </a:solidFill>
              </a:rPr>
              <a:t>Household and retail waste</a:t>
            </a:r>
            <a:r>
              <a:rPr lang="en">
                <a:solidFill>
                  <a:srgbClr val="129342"/>
                </a:solidFill>
              </a:rPr>
              <a:t> are key areas to target.</a:t>
            </a:r>
            <a:br>
              <a:rPr lang="en">
                <a:solidFill>
                  <a:srgbClr val="129342"/>
                </a:solidFill>
              </a:rPr>
            </a:br>
            <a:endParaRPr>
              <a:solidFill>
                <a:srgbClr val="12934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29342"/>
              </a:buClr>
              <a:buSzPts val="1800"/>
              <a:buChar char="●"/>
            </a:pPr>
            <a:r>
              <a:rPr b="1" lang="en">
                <a:solidFill>
                  <a:srgbClr val="129342"/>
                </a:solidFill>
              </a:rPr>
              <a:t>Predictions</a:t>
            </a:r>
            <a:r>
              <a:rPr lang="en">
                <a:solidFill>
                  <a:srgbClr val="129342"/>
                </a:solidFill>
              </a:rPr>
              <a:t> help inform policy and corporate decisions.</a:t>
            </a:r>
            <a:br>
              <a:rPr lang="en">
                <a:solidFill>
                  <a:srgbClr val="129342"/>
                </a:solidFill>
              </a:rPr>
            </a:br>
            <a:r>
              <a:rPr lang="en">
                <a:solidFill>
                  <a:srgbClr val="129342"/>
                </a:solidFill>
              </a:rPr>
              <a:t> Recommendations include raising awareness, improving supply chain efficiency, and using predictive models to focus efforts where they matter most."*</a:t>
            </a:r>
            <a:br>
              <a:rPr lang="en">
                <a:solidFill>
                  <a:srgbClr val="129342"/>
                </a:solidFill>
              </a:rPr>
            </a:br>
            <a:endParaRPr>
              <a:solidFill>
                <a:srgbClr val="12934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12934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